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BHARAT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0" i="1">
                <a:solidFill>
                  <a:srgbClr val="F4A81D"/>
                </a:solidFill>
                <a:latin typeface="Calibri"/>
              </a:rPr>
              <a:t>Finishing what UPI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A bank-owned, aggregator-free payments rail — and a Fraud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Intelligence Consortium to close the human gap UPI left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Discussion paper for regulators, banks and the payments industry  ·  Working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1183A"/>
                </a:solidFill>
                <a:latin typeface="Calibri"/>
              </a:rPr>
              <a:t>India built 80%. Two things remain.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212080" cy="356616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423160"/>
            <a:ext cx="731520" cy="73152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11183A"/>
                </a:solidFill>
                <a:latin typeface="Calibri"/>
              </a:rPr>
              <a:t>The toll-booth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4617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F2E"/>
                </a:solidFill>
                <a:latin typeface="Calibri"/>
              </a:rPr>
              <a:t>A private payment-aggregator layer still collects rent between merchant and bank — even though the money can move bank-to-bank.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212080" cy="3566160"/>
          </a:xfrm>
          <a:prstGeom prst="roundRect">
            <a:avLst/>
          </a:prstGeom>
          <a:solidFill>
            <a:srgbClr val="11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2423160"/>
            <a:ext cx="731520" cy="73152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3375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fraud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931920"/>
            <a:ext cx="4617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Social-engineering (APP) fraud — a victim manipulated into authorising a real payment. The one gap a faster rail does nothing to close.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3A5BA9"/>
                </a:solidFill>
                <a:latin typeface="Calibri"/>
              </a:rPr>
              <a:t>Pillar 1 removes the rent.   Pillar 2 removes the fear.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This is not a new paradigm.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It completes a proven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F4A81D"/>
                </a:solidFill>
                <a:latin typeface="Calibri"/>
              </a:rPr>
              <a:t>› </a:t>
            </a:r>
            <a:r>
              <a:rPr sz="1900" b="1">
                <a:solidFill>
                  <a:srgbClr val="CADCFC"/>
                </a:solidFill>
                <a:latin typeface="Calibri"/>
              </a:rPr>
              <a:t>NPCI </a:t>
            </a:r>
            <a:r>
              <a:rPr sz="1900">
                <a:solidFill>
                  <a:srgbClr val="CADCFC"/>
                </a:solidFill>
                <a:latin typeface="Calibri"/>
              </a:rPr>
              <a:t>is already a bank-owned consortium.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F4A81D"/>
                </a:solidFill>
                <a:latin typeface="Calibri"/>
              </a:rPr>
              <a:t>› </a:t>
            </a:r>
            <a:r>
              <a:rPr sz="1900" b="1">
                <a:solidFill>
                  <a:srgbClr val="CADCFC"/>
                </a:solidFill>
                <a:latin typeface="Calibri"/>
              </a:rPr>
              <a:t>CERSAI / CKYC </a:t>
            </a:r>
            <a:r>
              <a:rPr sz="1900">
                <a:solidFill>
                  <a:srgbClr val="CADCFC"/>
                </a:solidFill>
                <a:latin typeface="Calibri"/>
              </a:rPr>
              <a:t>is already a central identity utility.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F4A81D"/>
                </a:solidFill>
                <a:latin typeface="Calibri"/>
              </a:rPr>
              <a:t>› </a:t>
            </a:r>
            <a:r>
              <a:rPr sz="1900" b="1">
                <a:solidFill>
                  <a:srgbClr val="CADCFC"/>
                </a:solidFill>
                <a:latin typeface="Calibri"/>
              </a:rPr>
              <a:t>UPI </a:t>
            </a:r>
            <a:r>
              <a:rPr sz="1900">
                <a:solidFill>
                  <a:srgbClr val="CADCFC"/>
                </a:solidFill>
                <a:latin typeface="Calibri"/>
              </a:rPr>
              <a:t>already moves money bank-to-bank with no aggregator for person-to-merchant payments.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Bharat Direct extends that co-owned model up into merchant services — and adds the one shared utility India hasn’t built yet: fraud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WHY PEOPLE WHO "KNOW BETTER" STILL 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1183A"/>
                </a:solidFill>
                <a:latin typeface="Calibri"/>
              </a:rPr>
              <a:t>A scam hijacks the brain, not the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5A6070"/>
                </a:solidFill>
                <a:latin typeface="Calibri"/>
              </a:rPr>
              <a:t>Victims almost always know scams exist. Education fails because knowledge stored yesterday is unavailable in the moment of attack.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3429000" cy="265176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3200400"/>
            <a:ext cx="502920" cy="50292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11183A"/>
                </a:solidFill>
                <a:latin typeface="Calibri"/>
              </a:rPr>
              <a:t>Hot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43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Panic, fear or urgency narrows judgment. The calm "I’d never fall for it" person and the panicked victim are different decision-makers.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926080"/>
            <a:ext cx="3429000" cy="265176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9159" y="3200400"/>
            <a:ext cx="502920" cy="50292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8404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11183A"/>
                </a:solidFill>
                <a:latin typeface="Calibri"/>
              </a:rPr>
              <a:t>Pressure levers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4343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Authority, urgency, reward, trust, and a small first step that escalates.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926080"/>
            <a:ext cx="3429000" cy="265176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3200400"/>
            <a:ext cx="502920" cy="50292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8404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11183A"/>
                </a:solidFill>
                <a:latin typeface="Calibri"/>
              </a:rPr>
              <a:t>Isolation + tempo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343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"Don’t hang up. Don’t tell anyone." A closed loop with one voice — no second opinion can enter.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THE DESIGN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07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Every scam converges on ONE moment: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victim authorising the payment.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 i="0">
                <a:solidFill>
                  <a:srgbClr val="CADCFC"/>
                </a:solidFill>
                <a:latin typeface="Calibri"/>
              </a:rPr>
              <a:t>You can’t stop people being called. You can only intervene at the moment of authorisation — break the closed loop, cool the hot state, and bring deliberate thinking back online for two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1">
                <a:solidFill>
                  <a:srgbClr val="F4A81D"/>
                </a:solidFill>
                <a:latin typeface="Calibri"/>
              </a:rPr>
              <a:t>Everything before it is manipulation. Everything after it is irreversible.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WHY SCATTERED ADS DON’T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1183A"/>
                </a:solidFill>
                <a:latin typeface="Calibri"/>
              </a:rPr>
              <a:t>Habituation kills the generic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5A6070"/>
                </a:solidFill>
                <a:latin typeface="Calibri"/>
              </a:rPr>
              <a:t>A "Beware of fraud" banner on every transaction becomes wallpaper within a week. The design law: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10607040" cy="1371600"/>
          </a:xfrm>
          <a:prstGeom prst="roundRect">
            <a:avLst/>
          </a:prstGeom>
          <a:solidFill>
            <a:srgbClr val="11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9966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 i="1">
                <a:solidFill>
                  <a:srgbClr val="FFFFFF"/>
                </a:solidFill>
                <a:latin typeface="Calibri"/>
              </a:rPr>
              <a:t>"Warnings must be rare, specific, and earned by real risk — or they are worse than nothing."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1A1F2E"/>
                </a:solidFill>
                <a:latin typeface="Calibri"/>
              </a:rPr>
              <a:t>That is exactly why a Fraud Intelligence Consortium is not decoration: only shared, precise intelligence lets a warning fire ONLY when it matters — which is the only way it keeps its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PILLAR 2A — THE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1183A"/>
                </a:solidFill>
                <a:latin typeface="Calibri"/>
              </a:rPr>
              <a:t>The Aware Layer: spot-awareness at the chokepoint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5212080" cy="123444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258568"/>
            <a:ext cx="457200" cy="45720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17627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Dynamic friction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57860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Frictionless normally; staged interruption only on high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212080" cy="123444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2258568"/>
            <a:ext cx="457200" cy="45720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7627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Cooling interstitial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7860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Unskippable countdown on a high-risk new payee — breaks urgency.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5212080" cy="123444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675887"/>
            <a:ext cx="457200" cy="45720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359359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Trance-breaker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99592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"Is someone on the phone right now telling you to pay?"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29000"/>
            <a:ext cx="5212080" cy="123444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3675887"/>
            <a:ext cx="457200" cy="45720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59359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Named-threat warning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99592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"This matches a digital-arrest scam." Specific, not generic.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46320"/>
            <a:ext cx="5212080" cy="123444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5093208"/>
            <a:ext cx="457200" cy="45720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50109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Payee reputation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541324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"This account has 9 fraud reports in 24h" — the missing second opinion.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46320"/>
            <a:ext cx="5212080" cy="123444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92240" y="5093208"/>
            <a:ext cx="457200" cy="45720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0109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Active-recall confirm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41324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Type the purpose; re-read the payee. Defeats autopilot.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1">
                <a:solidFill>
                  <a:srgbClr val="3A5BA9"/>
                </a:solidFill>
                <a:latin typeface="Calibri"/>
              </a:rPr>
              <a:t>The screen becomes the second voice in the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PILLAR 2B — 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The Fraud Intelligence Consortium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Fraud is a network crime fought by isolated institutions. A mule drains victims across ten banks; each sees only its sliver. The criminals live in the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241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>
                <a:solidFill>
                  <a:srgbClr val="F4A81D"/>
                </a:solidFill>
                <a:latin typeface="Calibri"/>
              </a:rPr>
              <a:t>› </a:t>
            </a:r>
            <a:r>
              <a:rPr sz="1550" b="1">
                <a:solidFill>
                  <a:srgbClr val="CADCFC"/>
                </a:solidFill>
                <a:latin typeface="Calibri"/>
              </a:rPr>
              <a:t>Mule / payee graph — </a:t>
            </a:r>
            <a:r>
              <a:rPr sz="1550">
                <a:solidFill>
                  <a:srgbClr val="CADCFC"/>
                </a:solidFill>
                <a:latin typeface="Calibri"/>
              </a:rPr>
              <a:t>a report at one bank reaches another’s confirm-screen in seconds.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>
                <a:solidFill>
                  <a:srgbClr val="F4A81D"/>
                </a:solidFill>
                <a:latin typeface="Calibri"/>
              </a:rPr>
              <a:t>› </a:t>
            </a:r>
            <a:r>
              <a:rPr sz="1550" b="1">
                <a:solidFill>
                  <a:srgbClr val="CADCFC"/>
                </a:solidFill>
                <a:latin typeface="Calibri"/>
              </a:rPr>
              <a:t>Scam-typology library — </a:t>
            </a:r>
            <a:r>
              <a:rPr sz="1550">
                <a:solidFill>
                  <a:srgbClr val="CADCFC"/>
                </a:solidFill>
                <a:latin typeface="Calibri"/>
              </a:rPr>
              <a:t>powers the named-threat warnings.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>
                <a:solidFill>
                  <a:srgbClr val="F4A81D"/>
                </a:solidFill>
                <a:latin typeface="Calibri"/>
              </a:rPr>
              <a:t>› </a:t>
            </a:r>
            <a:r>
              <a:rPr sz="1550" b="1">
                <a:solidFill>
                  <a:srgbClr val="CADCFC"/>
                </a:solidFill>
                <a:latin typeface="Calibri"/>
              </a:rPr>
              <a:t>Cross-bank layering detection — </a:t>
            </a:r>
            <a:r>
              <a:rPr sz="1550">
                <a:solidFill>
                  <a:srgbClr val="CADCFC"/>
                </a:solidFill>
                <a:latin typeface="Calibri"/>
              </a:rPr>
              <a:t>follows money no single bank can see.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>
                <a:solidFill>
                  <a:srgbClr val="F4A81D"/>
                </a:solidFill>
                <a:latin typeface="Calibri"/>
              </a:rPr>
              <a:t>› </a:t>
            </a:r>
            <a:r>
              <a:rPr sz="1550" b="1">
                <a:solidFill>
                  <a:srgbClr val="CADCFC"/>
                </a:solidFill>
                <a:latin typeface="Calibri"/>
              </a:rPr>
              <a:t>Federated ML — </a:t>
            </a:r>
            <a:r>
              <a:rPr sz="1550">
                <a:solidFill>
                  <a:srgbClr val="CADCFC"/>
                </a:solidFill>
                <a:latin typeface="Calibri"/>
              </a:rPr>
              <a:t>signal shared, raw customer data never. Privacy- and competition-safe.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>
                <a:solidFill>
                  <a:srgbClr val="F4A81D"/>
                </a:solidFill>
                <a:latin typeface="Calibri"/>
              </a:rPr>
              <a:t>› </a:t>
            </a:r>
            <a:r>
              <a:rPr sz="1550" b="1">
                <a:solidFill>
                  <a:srgbClr val="CADCFC"/>
                </a:solidFill>
                <a:latin typeface="Calibri"/>
              </a:rPr>
              <a:t>Golden-hour freeze — </a:t>
            </a:r>
            <a:r>
              <a:rPr sz="1550">
                <a:solidFill>
                  <a:srgbClr val="CADCFC"/>
                </a:solidFill>
                <a:latin typeface="Calibri"/>
              </a:rPr>
              <a:t>instant cross-bank freeze and recovery.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Incentive backbone: make the receiving bank share APP liability. Then contributing to the FIC becomes self-interest, not charity.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PILLAR 1 — THE 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1183A"/>
                </a:solidFill>
                <a:latin typeface="Calibri"/>
              </a:rPr>
              <a:t>Direct Settlement Consortium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0">
                <a:solidFill>
                  <a:srgbClr val="5A6070"/>
                </a:solidFill>
                <a:latin typeface="Calibri"/>
              </a:rPr>
              <a:t>Merchants connect directly to banks. Funds settle bank-to-bank over a thin switch that passes messages but never holds money — so the entire PA escrow regime disappears.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108960"/>
            <a:ext cx="3291840" cy="155448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1183A"/>
                </a:solidFill>
                <a:latin typeface="Calibri"/>
              </a:rPr>
              <a:t>CKYC /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690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5A6070"/>
                </a:solidFill>
                <a:latin typeface="Calibri"/>
              </a:rPr>
              <a:t>one-time, central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06240" y="3657600"/>
            <a:ext cx="411480" cy="411480"/>
          </a:xfrm>
          <a:prstGeom prst="rightArrow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3108960"/>
            <a:ext cx="3291840" cy="1554480"/>
          </a:xfrm>
          <a:prstGeom prst="roundRect">
            <a:avLst/>
          </a:prstGeom>
          <a:solidFill>
            <a:srgbClr val="11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3832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Thin switch + netting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0690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no fund custody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9560" y="3657600"/>
            <a:ext cx="411480" cy="411480"/>
          </a:xfrm>
          <a:prstGeom prst="rightArrow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3108960"/>
            <a:ext cx="3291840" cy="155448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3832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1183A"/>
                </a:solidFill>
                <a:latin typeface="Calibri"/>
              </a:rPr>
              <a:t>Banks own acquiring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0690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5A6070"/>
                </a:solidFill>
                <a:latin typeface="Calibri"/>
              </a:rPr>
              <a:t>the "pieces"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0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0">
                <a:solidFill>
                  <a:srgbClr val="1A1F2E"/>
                </a:solidFill>
                <a:latin typeface="Calibri"/>
              </a:rPr>
              <a:t>Only identity stays central, amortised to near-zero per transaction. The percentage merchant fee becomes a small flat per-message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1183A"/>
                </a:solidFill>
                <a:latin typeface="Calibri"/>
              </a:rPr>
              <a:t>Who gains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10607040" cy="749808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5798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Small / mid merchants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157984"/>
            <a:ext cx="6949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A1F2E"/>
                </a:solidFill>
                <a:latin typeface="Calibri"/>
              </a:rPr>
              <a:t>Flat near-zero cost vs a percentage fee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34640"/>
            <a:ext cx="10607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8094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Banks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980944"/>
            <a:ext cx="6949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A1F2E"/>
                </a:solidFill>
                <a:latin typeface="Calibri"/>
              </a:rPr>
              <a:t>Value-added revenue PAs take today + a flat regulated rail fee + lower fraud losses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10607040" cy="749808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0390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Government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803904"/>
            <a:ext cx="6949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A1F2E"/>
                </a:solidFill>
                <a:latin typeface="Calibri"/>
              </a:rPr>
              <a:t>Lower subsidy bill · citizen protection · sovereignty · forex retained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80560"/>
            <a:ext cx="10607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2686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Consumers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626864"/>
            <a:ext cx="6949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A1F2E"/>
                </a:solidFill>
                <a:latin typeface="Calibri"/>
              </a:rPr>
              <a:t>Lower prices and far lower scam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03520"/>
            <a:ext cx="10607040" cy="749808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44982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1183A"/>
                </a:solidFill>
                <a:latin typeface="Calibri"/>
              </a:rPr>
              <a:t>Fintechs / PAs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449824"/>
            <a:ext cx="6949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A1F2E"/>
                </a:solidFill>
                <a:latin typeface="Calibri"/>
              </a:rPr>
              <a:t>Repositioned as builders of the Aware Layer &amp; FIC — not killed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4A81D"/>
                </a:solidFill>
                <a:latin typeface="Calibri"/>
              </a:rPr>
              <a:t>Keystone: the rail charges a small flat regulated fee — not zero. That is what makes it self-funding.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The scale is already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2606040" cy="2377440"/>
          </a:xfrm>
          <a:prstGeom prst="roundRect">
            <a:avLst/>
          </a:prstGeom>
          <a:solidFill>
            <a:srgbClr val="1B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F4A81D"/>
                </a:solidFill>
                <a:latin typeface="Calibri"/>
              </a:rPr>
              <a:t>21.7 bn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UPI transactions in a single month (Jan 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377440"/>
            <a:ext cx="2606040" cy="2377440"/>
          </a:xfrm>
          <a:prstGeom prst="roundRect">
            <a:avLst/>
          </a:prstGeom>
          <a:solidFill>
            <a:srgbClr val="1B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74320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F4A81D"/>
                </a:solidFill>
                <a:latin typeface="Calibri"/>
              </a:rPr>
              <a:t>₹28.3 L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6576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value moved that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377440"/>
            <a:ext cx="2606040" cy="2377440"/>
          </a:xfrm>
          <a:prstGeom prst="roundRect">
            <a:avLst/>
          </a:prstGeom>
          <a:solidFill>
            <a:srgbClr val="1B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74320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F4A81D"/>
                </a:solidFill>
                <a:latin typeface="Calibri"/>
              </a:rPr>
              <a:t>₹0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MDR on UPI / RuPay debit since 2020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377440"/>
            <a:ext cx="2606040" cy="2377440"/>
          </a:xfrm>
          <a:prstGeom prst="roundRect">
            <a:avLst/>
          </a:prstGeom>
          <a:solidFill>
            <a:srgbClr val="1B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274320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F4A81D"/>
                </a:solidFill>
                <a:latin typeface="Calibri"/>
              </a:rPr>
              <a:t>~₹2,000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36576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annual govt subsidy to keep it 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India spends real money keeping payments free. A co-owned, lower-cost rail shrinks that bill — and a fraud consortium protects the citizens using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THE PITCH TO GOVERNMENT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1183A"/>
                </a:solidFill>
                <a:latin typeface="Calibri"/>
              </a:rPr>
              <a:t>Three sovereign wins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3429000" cy="301752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468880"/>
            <a:ext cx="548640" cy="5486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00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1183A"/>
                </a:solidFill>
                <a:latin typeface="Calibri"/>
              </a:rPr>
              <a:t>Fiscal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The State already spends ₹1,500–2,000 cr/yr subsidising UPI. A lower-cost rail shrinks that bill.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94560"/>
            <a:ext cx="3429000" cy="301752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59" y="2468880"/>
            <a:ext cx="548640" cy="5486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200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1183A"/>
                </a:solidFill>
                <a:latin typeface="Calibri"/>
              </a:rPr>
              <a:t>Citizen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84048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Driving scam losses toward zero is rare, tangible political capital — protection people feel.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94560"/>
            <a:ext cx="3429000" cy="301752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6760" y="2468880"/>
            <a:ext cx="548640" cy="5486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1183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00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1183A"/>
                </a:solidFill>
                <a:latin typeface="Calibri"/>
              </a:rPr>
              <a:t>Strategic autonomy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84048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Scheme fees leave the country; mule networks exploit gaps. Both fixed by infrastructure India owns.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778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 i="1">
                <a:solidFill>
                  <a:srgbClr val="3A5BA9"/>
                </a:solidFill>
                <a:latin typeface="Calibri"/>
              </a:rPr>
              <a:t>India built the hardest 80%. Bharat Direct finishes it — removing the last private toll-booth and closing the one gap UPI left open: the human at the moment of payment.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HONEST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1183A"/>
                </a:solidFill>
                <a:latin typeface="Calibri"/>
              </a:rPr>
              <a:t>Named before they’re asked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0607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F4A81D"/>
                </a:solidFill>
                <a:latin typeface="Calibri"/>
              </a:rPr>
              <a:t>› </a:t>
            </a:r>
            <a:r>
              <a:rPr sz="1700" b="1">
                <a:solidFill>
                  <a:srgbClr val="1A1F2E"/>
                </a:solidFill>
                <a:latin typeface="Calibri"/>
              </a:rPr>
              <a:t>Concentration — </a:t>
            </a:r>
            <a:r>
              <a:rPr sz="1700">
                <a:solidFill>
                  <a:srgbClr val="1A1F2E"/>
                </a:solidFill>
                <a:latin typeface="Calibri"/>
              </a:rPr>
              <a:t>A shared switch is a systemic target → federated, multi-operator design, not a monolith.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F4A81D"/>
                </a:solidFill>
                <a:latin typeface="Calibri"/>
              </a:rPr>
              <a:t>› </a:t>
            </a:r>
            <a:r>
              <a:rPr sz="1700" b="1">
                <a:solidFill>
                  <a:srgbClr val="1A1F2E"/>
                </a:solidFill>
                <a:latin typeface="Calibri"/>
              </a:rPr>
              <a:t>Antitrust — </a:t>
            </a:r>
            <a:r>
              <a:rPr sz="1700">
                <a:solidFill>
                  <a:srgbClr val="1A1F2E"/>
                </a:solidFill>
                <a:latin typeface="Calibri"/>
              </a:rPr>
              <a:t>A consortium mustn’t be a cartel → neutral not-for-profit governance, open membership (NPCI precedent).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F4A81D"/>
                </a:solidFill>
                <a:latin typeface="Calibri"/>
              </a:rPr>
              <a:t>› </a:t>
            </a:r>
            <a:r>
              <a:rPr sz="1700" b="1">
                <a:solidFill>
                  <a:srgbClr val="1A1F2E"/>
                </a:solidFill>
                <a:latin typeface="Calibri"/>
              </a:rPr>
              <a:t>Privacy — </a:t>
            </a:r>
            <a:r>
              <a:rPr sz="1700">
                <a:solidFill>
                  <a:srgbClr val="1A1F2E"/>
                </a:solidFill>
                <a:latin typeface="Calibri"/>
              </a:rPr>
              <a:t>No pooling of raw data → federated learning by architecture.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F4A81D"/>
                </a:solidFill>
                <a:latin typeface="Calibri"/>
              </a:rPr>
              <a:t>› </a:t>
            </a:r>
            <a:r>
              <a:rPr sz="1700" b="1">
                <a:solidFill>
                  <a:srgbClr val="1A1F2E"/>
                </a:solidFill>
                <a:latin typeface="Calibri"/>
              </a:rPr>
              <a:t>Transition cost — </a:t>
            </a:r>
            <a:r>
              <a:rPr sz="1700">
                <a:solidFill>
                  <a:srgbClr val="1A1F2E"/>
                </a:solidFill>
                <a:latin typeface="Calibri"/>
              </a:rPr>
              <a:t>PA/fintech jobs and tax → repositioning narrative is essential.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F4A81D"/>
                </a:solidFill>
                <a:latin typeface="Calibri"/>
              </a:rPr>
              <a:t>› </a:t>
            </a:r>
            <a:r>
              <a:rPr sz="1700" b="1">
                <a:solidFill>
                  <a:srgbClr val="1A1F2E"/>
                </a:solidFill>
                <a:latin typeface="Calibri"/>
              </a:rPr>
              <a:t>Residual APP fraud — </a:t>
            </a:r>
            <a:r>
              <a:rPr sz="1700">
                <a:solidFill>
                  <a:srgbClr val="1A1F2E"/>
                </a:solidFill>
                <a:latin typeface="Calibri"/>
              </a:rPr>
              <a:t>Won’t hit literal zero → target world-best, backed by reimbursement so the victim is made whole.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4A81D"/>
                </a:solidFill>
                <a:latin typeface="Calibri"/>
              </a:rP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 pre-competitive working group —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way UPI itself began.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241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F4A81D"/>
                </a:solidFill>
                <a:latin typeface="Calibri"/>
              </a:rPr>
              <a:t>› </a:t>
            </a:r>
            <a:r>
              <a:rPr sz="1600" b="1">
                <a:solidFill>
                  <a:srgbClr val="CADCFC"/>
                </a:solidFill>
                <a:latin typeface="Calibri"/>
              </a:rPr>
              <a:t>Regulators — </a:t>
            </a:r>
            <a:r>
              <a:rPr sz="1600">
                <a:solidFill>
                  <a:srgbClr val="CADCFC"/>
                </a:solidFill>
                <a:latin typeface="Calibri"/>
              </a:rPr>
              <a:t>RBI (DPSS), MeitY, I4C / cybercrime (1930), DFS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F4A81D"/>
                </a:solidFill>
                <a:latin typeface="Calibri"/>
              </a:rPr>
              <a:t>› </a:t>
            </a:r>
            <a:r>
              <a:rPr sz="1600" b="1">
                <a:solidFill>
                  <a:srgbClr val="CADCFC"/>
                </a:solidFill>
                <a:latin typeface="Calibri"/>
              </a:rPr>
              <a:t>Rails — </a:t>
            </a:r>
            <a:r>
              <a:rPr sz="1600">
                <a:solidFill>
                  <a:srgbClr val="CADCFC"/>
                </a:solidFill>
                <a:latin typeface="Calibri"/>
              </a:rPr>
              <a:t>NPCI, CERSAI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F4A81D"/>
                </a:solidFill>
                <a:latin typeface="Calibri"/>
              </a:rPr>
              <a:t>› </a:t>
            </a:r>
            <a:r>
              <a:rPr sz="1600" b="1">
                <a:solidFill>
                  <a:srgbClr val="CADCFC"/>
                </a:solidFill>
                <a:latin typeface="Calibri"/>
              </a:rPr>
              <a:t>Banks — </a:t>
            </a:r>
            <a:r>
              <a:rPr sz="1600">
                <a:solidFill>
                  <a:srgbClr val="CADCFC"/>
                </a:solidFill>
                <a:latin typeface="Calibri"/>
              </a:rPr>
              <a:t>4–6 anchor public &amp; private banks as founding owners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F4A81D"/>
                </a:solidFill>
                <a:latin typeface="Calibri"/>
              </a:rPr>
              <a:t>› </a:t>
            </a:r>
            <a:r>
              <a:rPr sz="1600" b="1">
                <a:solidFill>
                  <a:srgbClr val="CADCFC"/>
                </a:solidFill>
                <a:latin typeface="Calibri"/>
              </a:rPr>
              <a:t>Industry — </a:t>
            </a:r>
            <a:r>
              <a:rPr sz="1600">
                <a:solidFill>
                  <a:srgbClr val="CADCFC"/>
                </a:solidFill>
                <a:latin typeface="Calibri"/>
              </a:rPr>
              <a:t>Payments Council of India + fintechs as builders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F4A81D"/>
                </a:solidFill>
                <a:latin typeface="Calibri"/>
              </a:rPr>
              <a:t>› </a:t>
            </a:r>
            <a:r>
              <a:rPr sz="1600" b="1">
                <a:solidFill>
                  <a:srgbClr val="CADCFC"/>
                </a:solidFill>
                <a:latin typeface="Calibri"/>
              </a:rPr>
              <a:t>Academia — </a:t>
            </a:r>
            <a:r>
              <a:rPr sz="1600">
                <a:solidFill>
                  <a:srgbClr val="CADCFC"/>
                </a:solidFill>
                <a:latin typeface="Calibri"/>
              </a:rPr>
              <a:t>behavioural-science &amp; security researchers to measure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FFFFFF"/>
                </a:solidFill>
                <a:latin typeface="Calibri"/>
              </a:rPr>
              <a:t>First deliverable: pilot the Aware Layer + a minimal mule-graph on existing UPI rails — prove the fraud number before touching settlement. Lead with the fraud win.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